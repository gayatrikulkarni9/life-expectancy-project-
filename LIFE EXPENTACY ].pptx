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63" r:id="rId11"/>
    <p:sldId id="270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72DB-FA23-6202-2CF8-6F87EED62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A640DB-CD4A-4446-6A09-06E152184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1CC06-C927-7A43-AE6B-96488054F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2BCA-E16F-466C-B3D9-074032311BA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09DC7-3E68-1BA2-E038-8471A2B1A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CF8EA-9783-27FE-732B-ACC936BC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380-5751-45A4-AC9C-45B956064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71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BF7AA-B133-F1C0-578A-12219969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69B68-D885-6518-D5D0-9451D4D01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3FA68-BB4B-E0D8-67C6-819B4B5B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2BCA-E16F-466C-B3D9-074032311BA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D0EEB-B5BA-8725-F153-A12CC168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47E32-2A3B-B1BE-94B8-3E68A7EAA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380-5751-45A4-AC9C-45B956064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778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853BA-B103-0905-DE7E-2F961742B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7FD25-2A5C-E11A-9B41-A47AE15E8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9A49F-5941-89DE-213C-0AC3A7D03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2BCA-E16F-466C-B3D9-074032311BA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233D1-F35B-14A9-33E1-FFF3E7FFD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02DD6-0ED3-00A3-EFAD-BF9639D3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380-5751-45A4-AC9C-45B956064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352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F50A2-2607-C346-CF2C-84012BAAE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284C8-67AE-9DA8-8FAB-50CA3920E2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A2DE4-7E9E-35F5-066D-921CEE3A2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95148-6C09-4427-0208-58FBA8562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2BCA-E16F-466C-B3D9-074032311BA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5AD1F-93AA-C3FD-E38B-92E1BA060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C4EAD-E44D-DB85-C1E2-5B62C27B8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380-5751-45A4-AC9C-45B956064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583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B523-837B-971D-9530-EE46DF4E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E8E29-7834-A6A4-A195-A17A4A628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D576F-333E-521E-116A-F42EACB82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4D9899-3426-2996-72B9-CC376B789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001A4A-87A3-EBB6-F46A-004B6B0BA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8160D1-A106-3E9C-DC7F-C939A8531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2BCA-E16F-466C-B3D9-074032311BA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5B6727-9664-07BE-6F1B-F610E4A7D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37FA25-2E5D-DCF8-E5E8-A4C97B809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380-5751-45A4-AC9C-45B956064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604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6310-1901-B87D-A5B8-FE8D146F3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F3D5C6-4FC6-B3EA-8F66-CD1B58961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2BCA-E16F-466C-B3D9-074032311BA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6E8867-5A19-63A6-84D7-394400D42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BC239-3539-E6CE-248A-711D266D3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380-5751-45A4-AC9C-45B956064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51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A0550F-7176-883B-35E5-84CB2011C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2BCA-E16F-466C-B3D9-074032311BA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59AFDA-B48E-39A3-A8DC-7E06C7FC6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6462E-A86D-7B2D-6E88-F70FF7D9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380-5751-45A4-AC9C-45B956064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573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71CA2-DFF1-217B-0092-3ABE97EAF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19F6D-50D5-DA6F-8F40-4C26C767F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78370-7A9C-362A-F950-D9C22024B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F1F44-242A-76BF-0630-143670369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2BCA-E16F-466C-B3D9-074032311BA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57AA6-CBC4-1EA7-2CE5-A22505D9E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261D0-DFF6-AE0E-F050-6F586E042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380-5751-45A4-AC9C-45B956064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545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8C4FE-D24B-7112-F7B8-3C6625707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B236D5-FE89-7221-93B1-1EA254FBA5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F5245B-9F8B-620F-6861-35D4AA24F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37BAB-CE87-0290-F1BE-42C8EE4F2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2BCA-E16F-466C-B3D9-074032311BA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D5A8C-FB71-8A99-E776-C712154A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827DE-D69E-9594-5A5B-1A137FCE5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380-5751-45A4-AC9C-45B956064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061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C5B5A-E77E-960F-B593-E162F2DB7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D6C4E-8816-2175-8DDB-8281E4A93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BD97F-81AE-706C-2CFC-71FB27B6E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2BCA-E16F-466C-B3D9-074032311BA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B9B78-5B59-D82B-FD7A-36CA52AB3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7EA29-3857-1F28-B77C-4A29C0919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380-5751-45A4-AC9C-45B956064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19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8A6F0A-32C3-405D-4328-257A3CBAF3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4C01C4-A350-1EE0-4F19-AF5B239A8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04A6E-F808-FE97-FFBB-742A84FF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2BCA-E16F-466C-B3D9-074032311BA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264EB-FD90-9AC2-4DAF-1D892C83A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84087-D065-2BED-F1DE-C33FDF752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79380-5751-45A4-AC9C-45B956064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052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FA5406-6A18-DD04-3047-BE241E19D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1E2AB-5E51-F5A6-14C0-345F387C6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8414E-F372-85FB-9D96-52B952424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22BCA-E16F-466C-B3D9-074032311BA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9AD47-128F-FACB-18A4-0ED627D2E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F987E-E6CF-52B0-B414-B27650A53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79380-5751-45A4-AC9C-45B956064B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82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6A378-9D69-458C-A2C8-E90862DFF7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Life Expectancy Analysis </a:t>
            </a:r>
            <a:r>
              <a:rPr lang="en-US" dirty="0" err="1"/>
              <a:t>Analysis</a:t>
            </a:r>
            <a:r>
              <a:rPr lang="en-US" dirty="0"/>
              <a:t> Machine Learning Project ( Data Analyst)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99374-A399-109A-934E-B71ED2981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7"/>
            <a:ext cx="9330813" cy="2387599"/>
          </a:xfrm>
        </p:spPr>
        <p:txBody>
          <a:bodyPr/>
          <a:lstStyle/>
          <a:p>
            <a:r>
              <a:rPr lang="en-US" b="1" dirty="0"/>
              <a:t>Life Expectancy Analysis using Data Visualization &amp; Machine Learning</a:t>
            </a:r>
            <a:br>
              <a:rPr lang="en-US" dirty="0"/>
            </a:br>
            <a:r>
              <a:rPr lang="en-US" dirty="0"/>
              <a:t>Domain: Healthcare Analytics / Data Analyst Project</a:t>
            </a:r>
            <a:br>
              <a:rPr lang="en-US" dirty="0"/>
            </a:br>
            <a:r>
              <a:rPr lang="en-US" dirty="0"/>
              <a:t>Tools: Python, Machine Learning, </a:t>
            </a:r>
            <a:r>
              <a:rPr lang="en-US" dirty="0" err="1"/>
              <a:t>Plotly</a:t>
            </a:r>
            <a:r>
              <a:rPr lang="en-US" dirty="0"/>
              <a:t>, Scikit-learn</a:t>
            </a:r>
            <a:br>
              <a:rPr lang="en-US" dirty="0"/>
            </a:br>
            <a:r>
              <a:rPr lang="en-US" dirty="0"/>
              <a:t>Prepared by: Gayatri Raghunath  Kulkarni </a:t>
            </a:r>
          </a:p>
          <a:p>
            <a:r>
              <a:rPr lang="en-IN" dirty="0"/>
              <a:t>UNID: UMID05112569400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805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6CCD-71CD-914B-128F-A07B9922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5E05D-F306-2621-3A96-2A7849C4A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focuses on analyzing the key factors affecting life expectancy across countries from </a:t>
            </a:r>
            <a:r>
              <a:rPr lang="en-US" b="1" dirty="0"/>
              <a:t>2000–2015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Using WHO global health data, we explore relationships between:</a:t>
            </a:r>
          </a:p>
          <a:p>
            <a:r>
              <a:rPr lang="en-US" dirty="0"/>
              <a:t>Mortality rates</a:t>
            </a:r>
          </a:p>
          <a:p>
            <a:r>
              <a:rPr lang="en-US" dirty="0"/>
              <a:t>Immunization coverage</a:t>
            </a:r>
          </a:p>
          <a:p>
            <a:r>
              <a:rPr lang="en-US" dirty="0"/>
              <a:t>GDP and expenditure</a:t>
            </a:r>
          </a:p>
          <a:p>
            <a:r>
              <a:rPr lang="en-US" dirty="0"/>
              <a:t>Education and social factors</a:t>
            </a:r>
          </a:p>
          <a:p>
            <a:r>
              <a:rPr lang="en-US" dirty="0"/>
              <a:t>Goal: Build predictive models for life expectancy.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56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19521-A9CF-CFB4-4D58-F5573C4D5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53025-AAE1-0DFB-7AED-4168E5388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165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IN" dirty="0"/>
              <a:t>Dataset Source: WHO Global Health Observatory   ,Countries Covered: </a:t>
            </a:r>
            <a:r>
              <a:rPr lang="en-IN" b="1" dirty="0"/>
              <a:t>193</a:t>
            </a:r>
            <a:br>
              <a:rPr lang="en-IN" dirty="0"/>
            </a:br>
            <a:r>
              <a:rPr lang="en-IN" dirty="0"/>
              <a:t>Time Period: </a:t>
            </a:r>
            <a:r>
              <a:rPr lang="en-IN" b="1" dirty="0"/>
              <a:t>2000–2015</a:t>
            </a:r>
            <a:endParaRPr lang="en-IN" dirty="0"/>
          </a:p>
          <a:p>
            <a:r>
              <a:rPr lang="en-IN" dirty="0"/>
              <a:t>Dataset Size:</a:t>
            </a:r>
          </a:p>
          <a:p>
            <a:r>
              <a:rPr lang="en-IN" dirty="0"/>
              <a:t>Rows: 2938</a:t>
            </a:r>
          </a:p>
          <a:p>
            <a:r>
              <a:rPr lang="en-IN" dirty="0"/>
              <a:t>Columns: 22</a:t>
            </a:r>
          </a:p>
          <a:p>
            <a:r>
              <a:rPr lang="en-IN" dirty="0"/>
              <a:t>Target Variable: Life Expectancy</a:t>
            </a:r>
          </a:p>
          <a:p>
            <a:r>
              <a:rPr lang="en-IN" dirty="0"/>
              <a:t>Key Features:</a:t>
            </a:r>
          </a:p>
          <a:p>
            <a:r>
              <a:rPr lang="en-IN" dirty="0"/>
              <a:t>Adult Mortality</a:t>
            </a:r>
          </a:p>
          <a:p>
            <a:r>
              <a:rPr lang="en-IN" dirty="0"/>
              <a:t>Infant Deaths</a:t>
            </a:r>
          </a:p>
          <a:p>
            <a:r>
              <a:rPr lang="en-IN" dirty="0"/>
              <a:t>GDP</a:t>
            </a:r>
          </a:p>
          <a:p>
            <a:r>
              <a:rPr lang="en-IN" dirty="0"/>
              <a:t>Schooling</a:t>
            </a:r>
          </a:p>
          <a:p>
            <a:r>
              <a:rPr lang="en-IN" dirty="0"/>
              <a:t>Alcohol Consumption</a:t>
            </a:r>
          </a:p>
          <a:p>
            <a:r>
              <a:rPr lang="en-IN" dirty="0"/>
              <a:t>Immunization Rates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2190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1A031-281D-054D-6981-411A1D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BE162-C81F-DBD5-819E-FA80D6267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aims to answer:</a:t>
            </a:r>
          </a:p>
          <a:p>
            <a:r>
              <a:rPr lang="en-US" dirty="0"/>
              <a:t>What factors influence life expectancy the most?</a:t>
            </a:r>
          </a:p>
          <a:p>
            <a:r>
              <a:rPr lang="en-US" dirty="0"/>
              <a:t>Do GDP and schooling improve lifespan?</a:t>
            </a:r>
          </a:p>
          <a:p>
            <a:r>
              <a:rPr lang="en-US" dirty="0"/>
              <a:t>How do mortality rates reduce life expectancy?</a:t>
            </a:r>
          </a:p>
          <a:p>
            <a:r>
              <a:rPr lang="en-US" dirty="0"/>
              <a:t>Which ML model gives the best prediction accuracy?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8280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E8F37-EB3D-71BE-7447-F139F2777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628C2-D0AC-FA29-7837-2ABE039ED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Steps performed:</a:t>
            </a:r>
          </a:p>
          <a:p>
            <a:r>
              <a:rPr lang="en-IN" dirty="0"/>
              <a:t>Checked missing values in Alcohol, GDP, Population, Schooling</a:t>
            </a:r>
          </a:p>
          <a:p>
            <a:r>
              <a:rPr lang="en-IN" dirty="0"/>
              <a:t>Imputed missing values using </a:t>
            </a:r>
            <a:r>
              <a:rPr lang="en-IN" b="1" dirty="0"/>
              <a:t>Mean Strategy</a:t>
            </a:r>
            <a:endParaRPr lang="en-IN" dirty="0"/>
          </a:p>
          <a:p>
            <a:r>
              <a:rPr lang="en-IN" dirty="0"/>
              <a:t>Removed duplicates</a:t>
            </a:r>
          </a:p>
          <a:p>
            <a:r>
              <a:rPr lang="en-IN" dirty="0"/>
              <a:t>Prepared dataset for analysis</a:t>
            </a:r>
          </a:p>
          <a:p>
            <a:r>
              <a:rPr lang="en-IN" dirty="0"/>
              <a:t>Outcome: Clean dataset ready for </a:t>
            </a:r>
            <a:r>
              <a:rPr lang="en-IN" dirty="0" err="1"/>
              <a:t>modeling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0439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648F-B9C0-99FB-3E93-A8CB60C86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Outlier Detection &amp; Treatment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013C4-7334-B499-407F-03CBBFA28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Outliers were identified using </a:t>
            </a:r>
            <a:r>
              <a:rPr lang="en-US" b="1" dirty="0"/>
              <a:t>Boxplots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Handled using the </a:t>
            </a:r>
            <a:r>
              <a:rPr lang="en-US" b="1" dirty="0"/>
              <a:t>IQR Method</a:t>
            </a:r>
            <a:r>
              <a:rPr lang="en-US" dirty="0"/>
              <a:t>:</a:t>
            </a:r>
          </a:p>
          <a:p>
            <a:r>
              <a:rPr lang="en-US" dirty="0"/>
              <a:t>Values outside lower/upper bounds replaced with mean</a:t>
            </a:r>
          </a:p>
          <a:p>
            <a:r>
              <a:rPr lang="en-US" dirty="0"/>
              <a:t>This improved data stability and model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919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032E1-7250-FF6B-20C9-94BBF952E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Exploratory Data Analysis (EDA)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F5250-300A-7004-8B28-30F38E00F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Key visualizations included:</a:t>
            </a:r>
          </a:p>
          <a:p>
            <a:r>
              <a:rPr lang="en-US" dirty="0"/>
              <a:t>Distribution of Life Expectancy</a:t>
            </a:r>
          </a:p>
          <a:p>
            <a:r>
              <a:rPr lang="en-US" dirty="0"/>
              <a:t>Trend of average life expectancy over years</a:t>
            </a:r>
          </a:p>
          <a:p>
            <a:r>
              <a:rPr lang="en-US" dirty="0"/>
              <a:t>Developed vs Developing country comparison</a:t>
            </a:r>
          </a:p>
          <a:p>
            <a:r>
              <a:rPr lang="en-US" dirty="0"/>
              <a:t>Population vs Life Expectancy scatter plots</a:t>
            </a:r>
          </a:p>
          <a:p>
            <a:r>
              <a:rPr lang="en-US" dirty="0"/>
              <a:t>Insight: Life expectancy increased globally from 2000–2015.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C3319B-7604-23CC-D328-2329A3E35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747" y="1359439"/>
            <a:ext cx="3934050" cy="25316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E327BC-031B-F251-D9AB-9CF75F8AE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29" y="4765052"/>
            <a:ext cx="2459032" cy="19873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6FFAE9-2072-29AE-91A0-8BA8D79EF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308" y="4765052"/>
            <a:ext cx="2459032" cy="199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183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04F93-AA15-1622-6EAA-77D94DD6A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C3739B-5133-4D87-13B3-6D4B56910D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85290"/>
            <a:ext cx="3419523" cy="2322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12DCD2-C1A4-F309-F305-DB7D2E495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2540" y="1959007"/>
            <a:ext cx="3571260" cy="25036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CB276-C27B-9554-9B67-A3008F288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540" y="4462701"/>
            <a:ext cx="3337598" cy="2303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62981F-9F14-8990-945B-2B4EFE7B8C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846" y="4402809"/>
            <a:ext cx="3419524" cy="232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93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3700-3E56-2699-9969-7D418161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F100D8-6425-3D42-304E-518B9E5EE4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625" y="286238"/>
            <a:ext cx="3264309" cy="22328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76C0B4-D744-6BF8-4371-78D6A596C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467" y="557059"/>
            <a:ext cx="4293333" cy="28719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EA2E2C-008A-B9AF-0F5E-38B30E40A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18" y="2940600"/>
            <a:ext cx="3594922" cy="24805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AE7D33-66BF-CBA7-6551-B595C87F5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1" y="3755001"/>
            <a:ext cx="3591843" cy="237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285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7F0A-E9C4-73FC-A60A-F45BA166F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Correlation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987B1-AD3B-A291-2DF6-7CAECB10D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 heatmap was used to study relationships:</a:t>
            </a:r>
          </a:p>
          <a:p>
            <a:r>
              <a:rPr lang="en-IN" dirty="0"/>
              <a:t>Strong Positive Correlation:</a:t>
            </a:r>
          </a:p>
          <a:p>
            <a:r>
              <a:rPr lang="en-IN" dirty="0"/>
              <a:t>Schooling ↑ → Life Expectancy ↑</a:t>
            </a:r>
          </a:p>
          <a:p>
            <a:r>
              <a:rPr lang="en-IN" dirty="0"/>
              <a:t>GDP ↑ → Life Expectancy ↑</a:t>
            </a:r>
          </a:p>
          <a:p>
            <a:r>
              <a:rPr lang="en-IN" dirty="0"/>
              <a:t>Strong Negative Correlation:</a:t>
            </a:r>
          </a:p>
          <a:p>
            <a:r>
              <a:rPr lang="en-IN" dirty="0"/>
              <a:t>Adult Mortality ↑ → Life Expectancy ↓</a:t>
            </a:r>
          </a:p>
          <a:p>
            <a:r>
              <a:rPr lang="en-IN" dirty="0"/>
              <a:t>HIV/AIDS ↑ → Life Expectancy ↓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4513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282CE-DA07-6D72-F034-4A115654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63E403-A6D8-C674-18B2-293EF6B25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2386" y="1543664"/>
            <a:ext cx="9792929" cy="509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30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18FF7-64E0-579F-5484-1CCDADD2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Engineering &amp; Scaling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665A3-63A4-0BF1-7CE1-B7C042547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Preprocessing before ML:</a:t>
            </a:r>
          </a:p>
          <a:p>
            <a:r>
              <a:rPr lang="en-US" dirty="0"/>
              <a:t>Encoded categorical variable: Status</a:t>
            </a:r>
          </a:p>
          <a:p>
            <a:r>
              <a:rPr lang="en-US" dirty="0"/>
              <a:t>Applied </a:t>
            </a:r>
            <a:r>
              <a:rPr lang="en-US" dirty="0" err="1"/>
              <a:t>StandardScaler</a:t>
            </a:r>
            <a:r>
              <a:rPr lang="en-US" dirty="0"/>
              <a:t> for normalization</a:t>
            </a:r>
          </a:p>
          <a:p>
            <a:r>
              <a:rPr lang="en-US" dirty="0"/>
              <a:t>Split dataset into Train (80%) and Test (20%)</a:t>
            </a:r>
          </a:p>
          <a:p>
            <a:r>
              <a:rPr lang="en-US" dirty="0"/>
              <a:t>Prepared final feature matrix for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5059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18ED-F53B-E1B6-A7B7-B2CECEC27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Machine Learning Models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EDD12-542A-4229-BEEA-7C3F2A2B7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/>
              <a:t>Multiple regression models were trained:</a:t>
            </a:r>
          </a:p>
          <a:p>
            <a:r>
              <a:rPr lang="en-IN" dirty="0"/>
              <a:t>Random Forest Regressor</a:t>
            </a:r>
          </a:p>
          <a:p>
            <a:r>
              <a:rPr lang="en-IN" dirty="0"/>
              <a:t>Extra Trees Regressor</a:t>
            </a:r>
          </a:p>
          <a:p>
            <a:r>
              <a:rPr lang="en-IN" dirty="0"/>
              <a:t>Gradient Boosting Regressor</a:t>
            </a:r>
          </a:p>
          <a:p>
            <a:r>
              <a:rPr lang="en-IN" dirty="0" err="1"/>
              <a:t>XGBoost</a:t>
            </a:r>
            <a:r>
              <a:rPr lang="en-IN" dirty="0"/>
              <a:t> Regressor</a:t>
            </a:r>
          </a:p>
          <a:p>
            <a:r>
              <a:rPr lang="en-IN" dirty="0"/>
              <a:t>Evaluation Metrics:</a:t>
            </a:r>
          </a:p>
          <a:p>
            <a:r>
              <a:rPr lang="en-IN" dirty="0"/>
              <a:t>R² Score</a:t>
            </a:r>
          </a:p>
          <a:p>
            <a:r>
              <a:rPr lang="en-IN" dirty="0"/>
              <a:t>RMSE (Error)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921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1418F-0511-DCD0-4514-A8C7A543F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Comparison Results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159AF-699A-20D7-EB96-C0F8DC8B8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Best performing model:</a:t>
            </a:r>
          </a:p>
          <a:p>
            <a:pPr marL="0" indent="0">
              <a:buNone/>
            </a:pPr>
            <a:r>
              <a:rPr lang="en-IN" b="1" dirty="0" err="1"/>
              <a:t>XGBoost</a:t>
            </a:r>
            <a:r>
              <a:rPr lang="en-IN" b="1" dirty="0"/>
              <a:t> Regressor</a:t>
            </a:r>
            <a:endParaRPr lang="en-IN" dirty="0"/>
          </a:p>
          <a:p>
            <a:r>
              <a:rPr lang="en-IN" dirty="0"/>
              <a:t>R² Score: ~0.959</a:t>
            </a:r>
          </a:p>
          <a:p>
            <a:r>
              <a:rPr lang="en-IN" dirty="0"/>
              <a:t>RMSE: ~1.98</a:t>
            </a:r>
          </a:p>
          <a:p>
            <a:r>
              <a:rPr lang="en-IN" dirty="0"/>
              <a:t>Model accuracy achieved: </a:t>
            </a:r>
            <a:r>
              <a:rPr lang="en-IN" b="1" dirty="0"/>
              <a:t>96%</a:t>
            </a:r>
            <a:endParaRPr lang="en-IN" dirty="0"/>
          </a:p>
          <a:p>
            <a:r>
              <a:rPr lang="en-IN" dirty="0"/>
              <a:t>Cross-validation confirmed stable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4242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8B426-CE20-196B-480C-6CB47793A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 &amp; Key Findings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0664F-DC64-7C03-BFCB-5A168A2D6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Project Conclusions:</a:t>
            </a:r>
          </a:p>
          <a:p>
            <a:r>
              <a:rPr lang="en-US" dirty="0"/>
              <a:t>Education and GDP strongly improve lifespan</a:t>
            </a:r>
          </a:p>
          <a:p>
            <a:r>
              <a:rPr lang="en-US" dirty="0"/>
              <a:t>Adult mortality is the biggest negative factor</a:t>
            </a:r>
          </a:p>
          <a:p>
            <a:r>
              <a:rPr lang="en-US" dirty="0"/>
              <a:t>Developed countries have higher life expectancy</a:t>
            </a:r>
          </a:p>
          <a:p>
            <a:r>
              <a:rPr lang="en-US" dirty="0" err="1"/>
              <a:t>XGBoost</a:t>
            </a:r>
            <a:r>
              <a:rPr lang="en-US" dirty="0"/>
              <a:t> provides the best prediction performance</a:t>
            </a:r>
          </a:p>
          <a:p>
            <a:r>
              <a:rPr lang="en-US" dirty="0"/>
              <a:t>Future Enhancements:</a:t>
            </a:r>
          </a:p>
          <a:p>
            <a:r>
              <a:rPr lang="en-US" dirty="0"/>
              <a:t>Deploy as dashboard (</a:t>
            </a:r>
            <a:r>
              <a:rPr lang="en-US" dirty="0" err="1"/>
              <a:t>Streamlit</a:t>
            </a:r>
            <a:r>
              <a:rPr lang="en-US" dirty="0"/>
              <a:t>/</a:t>
            </a:r>
            <a:r>
              <a:rPr lang="en-US" dirty="0" err="1"/>
              <a:t>PowerBI</a:t>
            </a:r>
            <a:r>
              <a:rPr lang="en-US" dirty="0"/>
              <a:t>)</a:t>
            </a:r>
          </a:p>
          <a:p>
            <a:r>
              <a:rPr lang="en-US" dirty="0"/>
              <a:t>Add deep learning regression models</a:t>
            </a:r>
          </a:p>
          <a:p>
            <a:r>
              <a:rPr lang="en-US" dirty="0"/>
              <a:t>Forecast life expectancy for future years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026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</Words>
  <Application>Microsoft Office PowerPoint</Application>
  <PresentationFormat>Widescreen</PresentationFormat>
  <Paragraphs>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Life Expectancy Analysis Analysis Machine Learning Project ( Data Analyst)</vt:lpstr>
      <vt:lpstr>Project Overview</vt:lpstr>
      <vt:lpstr>Dataset Description</vt:lpstr>
      <vt:lpstr>Problem Statement</vt:lpstr>
      <vt:lpstr>Data Preprocessing</vt:lpstr>
      <vt:lpstr>Outlier Detection &amp; Treatment </vt:lpstr>
      <vt:lpstr>Exploratory Data Analysis (EDA)</vt:lpstr>
      <vt:lpstr>PowerPoint Presentation</vt:lpstr>
      <vt:lpstr>PowerPoint Presentation</vt:lpstr>
      <vt:lpstr>Correlation Analysis</vt:lpstr>
      <vt:lpstr>PowerPoint Presentation</vt:lpstr>
      <vt:lpstr>Feature Engineering &amp; Scaling</vt:lpstr>
      <vt:lpstr>Machine Learning Models Used</vt:lpstr>
      <vt:lpstr>Model Comparison Results</vt:lpstr>
      <vt:lpstr>Conclusion &amp; Key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Gayatri Kulkarni</dc:creator>
  <cp:lastModifiedBy>Gayatri Kulkarni</cp:lastModifiedBy>
  <cp:revision>1</cp:revision>
  <dcterms:created xsi:type="dcterms:W3CDTF">2026-02-07T15:08:44Z</dcterms:created>
  <dcterms:modified xsi:type="dcterms:W3CDTF">2026-02-07T15:08:45Z</dcterms:modified>
</cp:coreProperties>
</file>